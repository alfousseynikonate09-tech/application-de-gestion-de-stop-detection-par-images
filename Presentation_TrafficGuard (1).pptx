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6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2421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1 — Introduction &amp; cadrage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1 — Introduction &amp; cadrage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1 — Introduction &amp; cadrage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1 — Introduction &amp; cadrage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1 — Introduction &amp; cadrage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2 — Conception &amp;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2 — Conception &amp;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2 — Conception &amp;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2 — Conception &amp;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2 — Conception &amp;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2 — Conception &amp;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3 — Réalisation, démo &amp; bilan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3 — Réalisation, démo &amp; bilan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3 — Réalisation, démo &amp; bilan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3 — Réalisation, démo &amp; bilan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Présentateur 3 — Réalisation, démo &amp; bilan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0">
            <a:extLst>
              <a:ext uri="{FF2B5EF4-FFF2-40B4-BE49-F238E27FC236}">
                <a16:creationId xmlns:a16="http://schemas.microsoft.com/office/drawing/2014/main" id="{A35A6AAD-DECF-AA03-D4CA-0E4784B931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92599" y="17869"/>
            <a:ext cx="3872071" cy="1176973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2F526C5A-A3ED-CD45-B080-9E7DCFEF0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1965" y="1129410"/>
            <a:ext cx="5133340" cy="188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Département d’Informatique</a:t>
            </a:r>
            <a:endParaRPr kumimoji="0" lang="fr-FR" altLang="fr-FR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fr-FR" sz="2000" b="1" dirty="0"/>
              <a:t>Licence Génie Informatique · 2025–2026</a:t>
            </a:r>
            <a:endParaRPr kumimoji="0" lang="fr-FR" altLang="fr-FR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Projet de Fin d’Etudes</a:t>
            </a:r>
            <a:r>
              <a:rPr kumimoji="0" lang="fr-FR" altLang="fr-FR" sz="20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endParaRPr kumimoji="0" lang="fr-FR" altLang="fr-FR" sz="20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63A62779-2678-91E2-784D-C2586B347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1128" y="2342033"/>
            <a:ext cx="88489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ndalus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/>
                <a:ea typeface="Times New Roman" panose="02020603050405020304" pitchFamily="18" charset="0"/>
                <a:cs typeface="Arial" panose="020B0604020202020204" pitchFamily="34" charset="0"/>
              </a:rPr>
              <a:t>Intitul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ndalus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240F7A6-6C0C-4AEF-A43C-2CE5E08F5EC5}"/>
              </a:ext>
            </a:extLst>
          </p:cNvPr>
          <p:cNvSpPr/>
          <p:nvPr/>
        </p:nvSpPr>
        <p:spPr>
          <a:xfrm>
            <a:off x="2521132" y="2947178"/>
            <a:ext cx="7602582" cy="121134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2000"/>
              </a:lnSpc>
            </a:pPr>
            <a:endParaRPr lang="fr-FR" b="1" dirty="0"/>
          </a:p>
          <a:p>
            <a:pPr algn="ctr">
              <a:lnSpc>
                <a:spcPct val="102000"/>
              </a:lnSpc>
            </a:pPr>
            <a:r>
              <a:rPr lang="fr-FR" sz="3200" b="1" dirty="0">
                <a:latin typeface="Bodoni MT" panose="02070603080606020203" pitchFamily="18" charset="0"/>
              </a:rPr>
              <a:t>Système Intelligent de Détection des</a:t>
            </a:r>
          </a:p>
          <a:p>
            <a:pPr algn="ctr">
              <a:lnSpc>
                <a:spcPct val="102000"/>
              </a:lnSpc>
            </a:pPr>
            <a:r>
              <a:rPr lang="fr-FR" sz="3200" b="1" dirty="0">
                <a:latin typeface="Bodoni MT" panose="02070603080606020203" pitchFamily="18" charset="0"/>
              </a:rPr>
              <a:t> Infractions aux Panneaux Stop</a:t>
            </a:r>
            <a:endParaRPr lang="fr-FR" sz="3200" dirty="0">
              <a:latin typeface="Bodoni MT" panose="02070603080606020203" pitchFamily="18" charset="0"/>
            </a:endParaRPr>
          </a:p>
          <a:p>
            <a:pPr algn="ctr">
              <a:lnSpc>
                <a:spcPct val="102000"/>
              </a:lnSpc>
            </a:pPr>
            <a:endParaRPr lang="fr-FR" sz="2400" b="1" dirty="0">
              <a:solidFill>
                <a:srgbClr val="17222E"/>
              </a:solidFill>
              <a:latin typeface="Cambria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EC5B1F3-2C12-32F6-5B4F-3D85170FAC40}"/>
              </a:ext>
            </a:extLst>
          </p:cNvPr>
          <p:cNvSpPr txBox="1"/>
          <p:nvPr/>
        </p:nvSpPr>
        <p:spPr>
          <a:xfrm>
            <a:off x="812799" y="4241899"/>
            <a:ext cx="12032343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/>
              <a:t>Réalisé par :                                                                                                                                                 </a:t>
            </a:r>
            <a:r>
              <a:rPr lang="fr-FR" sz="1400" dirty="0"/>
              <a:t>				  </a:t>
            </a:r>
            <a:r>
              <a:rPr lang="fr-FR" sz="1600" dirty="0"/>
              <a:t>Encadré par 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fr-FR" sz="1400" dirty="0"/>
              <a:t> </a:t>
            </a:r>
            <a:r>
              <a:rPr lang="fr-FR" sz="1400" b="1" dirty="0"/>
              <a:t>Alfousseyni Konaté								  								          Pr. Asmae Kamal</a:t>
            </a:r>
            <a:endParaRPr lang="fr-FR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fr-FR" sz="1400" dirty="0"/>
              <a:t> </a:t>
            </a:r>
            <a:r>
              <a:rPr lang="fr-FR" sz="1400" b="1" dirty="0"/>
              <a:t>Judite Boli Oumar</a:t>
            </a:r>
            <a:endParaRPr lang="fr-FR" sz="1400" dirty="0"/>
          </a:p>
          <a:p>
            <a:pPr marL="285750" indent="-285750">
              <a:buFont typeface="Wingdings" pitchFamily="2" charset="2"/>
              <a:buChar char="q"/>
            </a:pPr>
            <a:r>
              <a:rPr lang="fr-FR" sz="1400" b="1" dirty="0"/>
              <a:t>Abdoulaye Coulibaly </a:t>
            </a:r>
          </a:p>
          <a:p>
            <a:endParaRPr lang="fr-FR" sz="800" b="1" dirty="0"/>
          </a:p>
          <a:p>
            <a:r>
              <a:rPr lang="fr-FR" sz="1600" dirty="0"/>
              <a:t>Soutenu le 18/06/2026 devant le jury : </a:t>
            </a:r>
          </a:p>
          <a:p>
            <a:pPr marL="285750" lvl="0" indent="-285750" fontAlgn="base">
              <a:buFont typeface="Wingdings" panose="05000000000000000000" pitchFamily="2" charset="2"/>
              <a:buChar char="Ø"/>
            </a:pPr>
            <a:r>
              <a:rPr lang="fr-FR" b="1" dirty="0"/>
              <a:t>Pr. Ilham El Ouariachi</a:t>
            </a:r>
            <a:r>
              <a:rPr lang="fr-FR" sz="1600" b="1" dirty="0"/>
              <a:t>, Professeur à la Faculté des Sciences- Meknès</a:t>
            </a:r>
            <a:r>
              <a:rPr lang="fr-FR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/>
              <a:t>Pr. Ed-</a:t>
            </a:r>
            <a:r>
              <a:rPr lang="fr-FR" b="1" dirty="0" err="1"/>
              <a:t>Drissiya</a:t>
            </a:r>
            <a:r>
              <a:rPr lang="fr-FR" b="1" dirty="0"/>
              <a:t> El-</a:t>
            </a:r>
            <a:r>
              <a:rPr lang="fr-FR" b="1" dirty="0" err="1"/>
              <a:t>Allaly</a:t>
            </a:r>
            <a:r>
              <a:rPr lang="fr-FR" sz="1600" b="1" dirty="0"/>
              <a:t>, Professeur à la Faculté des Sciences- Meknès</a:t>
            </a:r>
            <a:r>
              <a:rPr lang="fr-FR" sz="1600" dirty="0"/>
              <a:t>  </a:t>
            </a:r>
          </a:p>
          <a:p>
            <a:endParaRPr lang="fr-FR" sz="1400" dirty="0"/>
          </a:p>
          <a:p>
            <a:pPr algn="ctr"/>
            <a:endParaRPr lang="fr-FR" sz="1600" dirty="0"/>
          </a:p>
          <a:p>
            <a:pPr algn="ctr"/>
            <a:r>
              <a:rPr lang="fr-FR" sz="1600" dirty="0"/>
              <a:t>Année Universitaire :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/>
              <a:t>+,-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PLAN DE LA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Sommaire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AEEF3"/>
                </a:solidFill>
                <a:latin typeface="Cambria"/>
              </a:rPr>
              <a:t>01</a:t>
            </a:r>
          </a:p>
        </p:txBody>
      </p:sp>
      <p:sp>
        <p:nvSpPr>
          <p:cNvPr id="8" name="Octagon 7"/>
          <p:cNvSpPr/>
          <p:nvPr/>
        </p:nvSpPr>
        <p:spPr>
          <a:xfrm>
            <a:off x="1481328" y="2313432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65960" y="214884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>
                <a:solidFill>
                  <a:srgbClr val="17222E"/>
                </a:solidFill>
                <a:latin typeface="Calibri"/>
              </a:rPr>
              <a:t>Introduction &amp;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problématique</a:t>
            </a:r>
            <a:endParaRPr sz="1550" b="1" i="0" dirty="0">
              <a:solidFill>
                <a:srgbClr val="17222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1328" y="2898648"/>
            <a:ext cx="4480560" cy="1016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AEEF3"/>
                </a:solidFill>
                <a:latin typeface="Cambria"/>
              </a:rPr>
              <a:t>02</a:t>
            </a:r>
          </a:p>
        </p:txBody>
      </p:sp>
      <p:sp>
        <p:nvSpPr>
          <p:cNvPr id="12" name="Octagon 11"/>
          <p:cNvSpPr/>
          <p:nvPr/>
        </p:nvSpPr>
        <p:spPr>
          <a:xfrm>
            <a:off x="1481328" y="3154680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0" y="2990088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 err="1">
                <a:solidFill>
                  <a:srgbClr val="17222E"/>
                </a:solidFill>
                <a:latin typeface="Calibri"/>
              </a:rPr>
              <a:t>L'idée</a:t>
            </a:r>
            <a:r>
              <a:rPr sz="1550" b="1" i="0" dirty="0">
                <a:solidFill>
                  <a:srgbClr val="17222E"/>
                </a:solidFill>
                <a:latin typeface="Calibri"/>
              </a:rPr>
              <a:t>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clé</a:t>
            </a:r>
            <a:r>
              <a:rPr sz="1550" b="1" i="0" dirty="0">
                <a:solidFill>
                  <a:srgbClr val="17222E"/>
                </a:solidFill>
                <a:latin typeface="Calibri"/>
              </a:rPr>
              <a:t> du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projet</a:t>
            </a:r>
            <a:endParaRPr sz="1550" b="1" i="0" dirty="0">
              <a:solidFill>
                <a:srgbClr val="17222E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81328" y="3739896"/>
            <a:ext cx="4480560" cy="1016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831336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 dirty="0">
                <a:solidFill>
                  <a:srgbClr val="EAEEF3"/>
                </a:solidFill>
                <a:latin typeface="Cambria"/>
              </a:rPr>
              <a:t>03</a:t>
            </a:r>
          </a:p>
        </p:txBody>
      </p:sp>
      <p:sp>
        <p:nvSpPr>
          <p:cNvPr id="16" name="Octagon 15"/>
          <p:cNvSpPr/>
          <p:nvPr/>
        </p:nvSpPr>
        <p:spPr>
          <a:xfrm>
            <a:off x="1481328" y="3995928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3831336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 err="1">
                <a:solidFill>
                  <a:srgbClr val="17222E"/>
                </a:solidFill>
                <a:latin typeface="Calibri"/>
              </a:rPr>
              <a:t>Objectifs</a:t>
            </a:r>
            <a:r>
              <a:rPr sz="1550" b="1" i="0" dirty="0">
                <a:solidFill>
                  <a:srgbClr val="17222E"/>
                </a:solidFill>
                <a:latin typeface="Calibri"/>
              </a:rPr>
              <a:t> &amp; étude de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l'existant</a:t>
            </a:r>
            <a:endParaRPr sz="1550" b="1" i="0" dirty="0">
              <a:solidFill>
                <a:srgbClr val="17222E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81328" y="4581144"/>
            <a:ext cx="4480560" cy="1016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672584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AEEF3"/>
                </a:solidFill>
                <a:latin typeface="Cambria"/>
              </a:rPr>
              <a:t>04</a:t>
            </a:r>
          </a:p>
        </p:txBody>
      </p:sp>
      <p:sp>
        <p:nvSpPr>
          <p:cNvPr id="20" name="Octagon 19"/>
          <p:cNvSpPr/>
          <p:nvPr/>
        </p:nvSpPr>
        <p:spPr>
          <a:xfrm>
            <a:off x="1481328" y="4837176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65960" y="4672584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>
                <a:solidFill>
                  <a:srgbClr val="17222E"/>
                </a:solidFill>
                <a:latin typeface="Calibri"/>
              </a:rPr>
              <a:t>Pile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technologique</a:t>
            </a:r>
            <a:endParaRPr sz="1550" b="1" i="0" dirty="0">
              <a:solidFill>
                <a:srgbClr val="17222E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481328" y="5422392"/>
            <a:ext cx="4480560" cy="1016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513832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AEEF3"/>
                </a:solidFill>
                <a:latin typeface="Cambria"/>
              </a:rPr>
              <a:t>05</a:t>
            </a:r>
          </a:p>
        </p:txBody>
      </p:sp>
      <p:sp>
        <p:nvSpPr>
          <p:cNvPr id="24" name="Octagon 23"/>
          <p:cNvSpPr/>
          <p:nvPr/>
        </p:nvSpPr>
        <p:spPr>
          <a:xfrm>
            <a:off x="1481328" y="5678424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0" y="5513832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>
                <a:solidFill>
                  <a:srgbClr val="17222E"/>
                </a:solidFill>
                <a:latin typeface="Calibri"/>
              </a:rPr>
              <a:t>Architecture &amp; conception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14884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AEEF3"/>
                </a:solidFill>
                <a:latin typeface="Cambria"/>
              </a:rPr>
              <a:t>06</a:t>
            </a:r>
          </a:p>
        </p:txBody>
      </p:sp>
      <p:sp>
        <p:nvSpPr>
          <p:cNvPr id="27" name="Octagon 26"/>
          <p:cNvSpPr/>
          <p:nvPr/>
        </p:nvSpPr>
        <p:spPr>
          <a:xfrm>
            <a:off x="7013448" y="2313432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79" y="2148840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>
                <a:solidFill>
                  <a:srgbClr val="17222E"/>
                </a:solidFill>
                <a:latin typeface="Calibri"/>
              </a:rPr>
              <a:t>Le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cœur</a:t>
            </a:r>
            <a:r>
              <a:rPr sz="1550" b="1" i="0" dirty="0">
                <a:solidFill>
                  <a:srgbClr val="17222E"/>
                </a:solidFill>
                <a:latin typeface="Calibri"/>
              </a:rPr>
              <a:t> :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détection</a:t>
            </a:r>
            <a:r>
              <a:rPr sz="1550" b="1" i="0" dirty="0">
                <a:solidFill>
                  <a:srgbClr val="17222E"/>
                </a:solidFill>
                <a:latin typeface="Calibri"/>
              </a:rPr>
              <a:t>,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suivi</a:t>
            </a:r>
            <a:r>
              <a:rPr sz="1550" b="1" i="0" dirty="0">
                <a:solidFill>
                  <a:srgbClr val="17222E"/>
                </a:solidFill>
                <a:latin typeface="Calibri"/>
              </a:rPr>
              <a:t>,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arrêt</a:t>
            </a:r>
            <a:endParaRPr sz="1550" b="1" i="0" dirty="0">
              <a:solidFill>
                <a:srgbClr val="17222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013448" y="2898648"/>
            <a:ext cx="4480560" cy="1016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2200" y="2990088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AEEF3"/>
                </a:solidFill>
                <a:latin typeface="Cambria"/>
              </a:rPr>
              <a:t>07</a:t>
            </a:r>
          </a:p>
        </p:txBody>
      </p:sp>
      <p:sp>
        <p:nvSpPr>
          <p:cNvPr id="31" name="Octagon 30"/>
          <p:cNvSpPr/>
          <p:nvPr/>
        </p:nvSpPr>
        <p:spPr>
          <a:xfrm>
            <a:off x="7013448" y="3154680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79" y="2990088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 err="1">
                <a:solidFill>
                  <a:srgbClr val="17222E"/>
                </a:solidFill>
                <a:latin typeface="Calibri"/>
              </a:rPr>
              <a:t>Fiabilisation</a:t>
            </a:r>
            <a:r>
              <a:rPr sz="1550" b="1" i="0" dirty="0">
                <a:solidFill>
                  <a:srgbClr val="17222E"/>
                </a:solidFill>
                <a:latin typeface="Calibri"/>
              </a:rPr>
              <a:t> du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moteur</a:t>
            </a:r>
            <a:endParaRPr sz="1550" b="1" i="0" dirty="0">
              <a:solidFill>
                <a:srgbClr val="17222E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013448" y="3739896"/>
            <a:ext cx="4480560" cy="1016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3831336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AEEF3"/>
                </a:solidFill>
                <a:latin typeface="Cambria"/>
              </a:rPr>
              <a:t>08</a:t>
            </a:r>
          </a:p>
        </p:txBody>
      </p:sp>
      <p:sp>
        <p:nvSpPr>
          <p:cNvPr id="35" name="Octagon 34"/>
          <p:cNvSpPr/>
          <p:nvPr/>
        </p:nvSpPr>
        <p:spPr>
          <a:xfrm>
            <a:off x="7013448" y="3995928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79" y="3831336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>
                <a:solidFill>
                  <a:srgbClr val="17222E"/>
                </a:solidFill>
                <a:latin typeface="Calibri"/>
              </a:rPr>
              <a:t>Interface &amp;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démonstration</a:t>
            </a:r>
            <a:endParaRPr sz="1550" b="1" i="0" dirty="0">
              <a:solidFill>
                <a:srgbClr val="17222E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13448" y="4581144"/>
            <a:ext cx="4480560" cy="1016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4672584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AEEF3"/>
                </a:solidFill>
                <a:latin typeface="Cambria"/>
              </a:rPr>
              <a:t>09</a:t>
            </a:r>
          </a:p>
        </p:txBody>
      </p:sp>
      <p:sp>
        <p:nvSpPr>
          <p:cNvPr id="39" name="Octagon 38"/>
          <p:cNvSpPr/>
          <p:nvPr/>
        </p:nvSpPr>
        <p:spPr>
          <a:xfrm>
            <a:off x="7013448" y="4837176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79" y="4672584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 err="1">
                <a:solidFill>
                  <a:srgbClr val="17222E"/>
                </a:solidFill>
                <a:latin typeface="Calibri"/>
              </a:rPr>
              <a:t>Résultats</a:t>
            </a:r>
            <a:r>
              <a:rPr sz="1550" b="1" i="0" dirty="0">
                <a:solidFill>
                  <a:srgbClr val="17222E"/>
                </a:solidFill>
                <a:latin typeface="Calibri"/>
              </a:rPr>
              <a:t> &amp; </a:t>
            </a:r>
            <a:r>
              <a:rPr sz="1550" b="1" i="0" dirty="0" err="1">
                <a:solidFill>
                  <a:srgbClr val="17222E"/>
                </a:solidFill>
                <a:latin typeface="Calibri"/>
              </a:rPr>
              <a:t>bilan</a:t>
            </a:r>
            <a:r>
              <a:rPr sz="1550" b="1" i="0" dirty="0">
                <a:solidFill>
                  <a:srgbClr val="17222E"/>
                </a:solidFill>
                <a:latin typeface="Calibri"/>
              </a:rPr>
              <a:t> critique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13448" y="5422392"/>
            <a:ext cx="4480560" cy="10160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2200" y="5513832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AEEF3"/>
                </a:solidFill>
                <a:latin typeface="Cambria"/>
              </a:rPr>
              <a:t>10</a:t>
            </a:r>
          </a:p>
        </p:txBody>
      </p:sp>
      <p:sp>
        <p:nvSpPr>
          <p:cNvPr id="43" name="Octagon 42"/>
          <p:cNvSpPr/>
          <p:nvPr/>
        </p:nvSpPr>
        <p:spPr>
          <a:xfrm>
            <a:off x="7013448" y="5678424"/>
            <a:ext cx="310896" cy="310896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98079" y="5513832"/>
            <a:ext cx="4023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 dirty="0">
                <a:solidFill>
                  <a:srgbClr val="17222E"/>
                </a:solidFill>
                <a:latin typeface="Calibri"/>
              </a:rPr>
              <a:t>Conclusion &amp; perspectives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01 —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5156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600" b="1" i="0">
                <a:solidFill>
                  <a:srgbClr val="EAEEF3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Surveiller les panneaux 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6126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B6675"/>
                </a:solidFill>
                <a:latin typeface="Calibri"/>
              </a:rPr>
              <a:t>La surveillance manuelle des intersections est coûteuse, partielle et sans données exploitables. Pourtant, le non-respect du Stop reste une cause majeure d'accidents.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2926080" cy="107899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ctagon 9"/>
          <p:cNvSpPr/>
          <p:nvPr/>
        </p:nvSpPr>
        <p:spPr>
          <a:xfrm>
            <a:off x="841247" y="4096512"/>
            <a:ext cx="365760" cy="365760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53312" y="398678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Coût humain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43434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Un carrefour mobilise du personnel en continu.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3840480"/>
            <a:ext cx="2926080" cy="107899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ctagon 13"/>
          <p:cNvSpPr/>
          <p:nvPr/>
        </p:nvSpPr>
        <p:spPr>
          <a:xfrm>
            <a:off x="3995928" y="4096512"/>
            <a:ext cx="365760" cy="365760"/>
          </a:xfrm>
          <a:prstGeom prst="octagon">
            <a:avLst/>
          </a:prstGeom>
          <a:solidFill>
            <a:srgbClr val="1E5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398678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Couverture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43434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Impossible d'observer plusieurs lieux à la fois.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2926080" cy="107899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ctagon 17"/>
          <p:cNvSpPr/>
          <p:nvPr/>
        </p:nvSpPr>
        <p:spPr>
          <a:xfrm>
            <a:off x="841247" y="5330952"/>
            <a:ext cx="365760" cy="365760"/>
          </a:xfrm>
          <a:prstGeom prst="octagon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53312" y="522122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Fatigue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55778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L'attention humaine baisse avec le temps.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5074920"/>
            <a:ext cx="2926080" cy="1078992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ctagon 21"/>
          <p:cNvSpPr/>
          <p:nvPr/>
        </p:nvSpPr>
        <p:spPr>
          <a:xfrm>
            <a:off x="3995928" y="5330952"/>
            <a:ext cx="365760" cy="365760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7992" y="522122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Aucune donnée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55778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B6675"/>
                </a:solidFill>
                <a:latin typeface="Calibri"/>
              </a:rPr>
              <a:t>Pas de statistiques exploitables.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2286000"/>
            <a:ext cx="4434840" cy="4069080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 w="17780">
            <a:solidFill>
              <a:srgbClr val="DC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ctagon 25"/>
          <p:cNvSpPr/>
          <p:nvPr/>
        </p:nvSpPr>
        <p:spPr>
          <a:xfrm>
            <a:off x="7360920" y="2560320"/>
            <a:ext cx="457200" cy="457200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6060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libri"/>
              </a:rPr>
              <a:t>PROBLÉMATIQUE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337560"/>
            <a:ext cx="39319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 i="0">
                <a:solidFill>
                  <a:srgbClr val="17222E"/>
                </a:solidFill>
                <a:latin typeface="Cambria"/>
              </a:rPr>
              <a:t>Comment détecter automatiquement et de façon fiable les véhicules qui ne respectent pas l'arrêt obligatoire à un panneau Stop, grâce à l'analyse vidéo par intelligence artificielle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02 — LE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5156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600" b="1" i="0">
                <a:solidFill>
                  <a:srgbClr val="EAEEF3"/>
                </a:solidFill>
                <a:latin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Une infraction se mesure dans le temps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5B6675"/>
                </a:solidFill>
                <a:latin typeface="Calibri"/>
              </a:rPr>
              <a:t>Un véhicule qui « passe » le Stop n'est pas en infraction. L'infraction, c'est NE PAS s'arrêter — un comportement qui s'observe sur plusieurs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 w="16510">
            <a:solidFill>
              <a:srgbClr val="DC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DC2828"/>
                </a:solidFill>
                <a:latin typeface="Cambria"/>
              </a:rPr>
              <a:t>Approche naïve — à éviter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17222E"/>
                </a:solidFill>
                <a:latin typeface="Calibri"/>
              </a:rPr>
              <a:t>« Véhicule + panneau visibles → infraction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B6675"/>
                </a:solidFill>
                <a:latin typeface="Calibri"/>
              </a:rPr>
              <a:t>Tous les véhicules seraient comptés en infraction, même ceux qui se sont parfaitement arrêtés. Le résultat n'a aucun sens.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063240"/>
            <a:ext cx="5349240" cy="3108960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 w="1651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9D55"/>
                </a:solidFill>
                <a:latin typeface="Cambria"/>
              </a:rPr>
              <a:t>Approche de TrafficGuard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79476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17222E"/>
                </a:solidFill>
                <a:latin typeface="Calibri"/>
              </a:rPr>
              <a:t>« Le véhicule s'est-il immobilisé ?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B6675"/>
                </a:solidFill>
                <a:latin typeface="Calibri"/>
              </a:rPr>
              <a:t>On suit chaque véhicule et on mesure son mouvement. Immobilisation ≈ 0,7 s près du Stop → respecté. Sinon → infraction.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03 — CADRAGE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5156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600" b="1" i="0">
                <a:solidFill>
                  <a:srgbClr val="EAEEF3"/>
                </a:solidFill>
                <a:latin typeface="Cambria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Objectifs &amp; étude de l'existant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OBJECTIFS</a:t>
            </a:r>
          </a:p>
        </p:txBody>
      </p:sp>
      <p:sp>
        <p:nvSpPr>
          <p:cNvPr id="9" name="Octagon 8"/>
          <p:cNvSpPr/>
          <p:nvPr/>
        </p:nvSpPr>
        <p:spPr>
          <a:xfrm>
            <a:off x="640080" y="2788920"/>
            <a:ext cx="256032" cy="256032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7432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7222E"/>
                </a:solidFill>
                <a:latin typeface="Calibri"/>
              </a:rPr>
              <a:t>Détecter panneaux Stop &amp; véhicules</a:t>
            </a:r>
          </a:p>
        </p:txBody>
      </p:sp>
      <p:sp>
        <p:nvSpPr>
          <p:cNvPr id="11" name="Octagon 10"/>
          <p:cNvSpPr/>
          <p:nvPr/>
        </p:nvSpPr>
        <p:spPr>
          <a:xfrm>
            <a:off x="640080" y="3355848"/>
            <a:ext cx="256032" cy="256032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3101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7222E"/>
                </a:solidFill>
                <a:latin typeface="Calibri"/>
              </a:rPr>
              <a:t>Suivre chaque véhicule (ID stable)</a:t>
            </a:r>
          </a:p>
        </p:txBody>
      </p:sp>
      <p:sp>
        <p:nvSpPr>
          <p:cNvPr id="13" name="Octagon 12"/>
          <p:cNvSpPr/>
          <p:nvPr/>
        </p:nvSpPr>
        <p:spPr>
          <a:xfrm>
            <a:off x="640080" y="3922776"/>
            <a:ext cx="256032" cy="256032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877056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7222E"/>
                </a:solidFill>
                <a:latin typeface="Calibri"/>
              </a:rPr>
              <a:t>Mesurer l'arrêt près du Stop</a:t>
            </a:r>
          </a:p>
        </p:txBody>
      </p:sp>
      <p:sp>
        <p:nvSpPr>
          <p:cNvPr id="15" name="Octagon 14"/>
          <p:cNvSpPr/>
          <p:nvPr/>
        </p:nvSpPr>
        <p:spPr>
          <a:xfrm>
            <a:off x="640080" y="4489703"/>
            <a:ext cx="256032" cy="256032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4443983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7222E"/>
                </a:solidFill>
                <a:latin typeface="Calibri"/>
              </a:rPr>
              <a:t>Juger l'infraction (absence d'arrêt)</a:t>
            </a:r>
          </a:p>
        </p:txBody>
      </p:sp>
      <p:sp>
        <p:nvSpPr>
          <p:cNvPr id="17" name="Octagon 16"/>
          <p:cNvSpPr/>
          <p:nvPr/>
        </p:nvSpPr>
        <p:spPr>
          <a:xfrm>
            <a:off x="640080" y="5056632"/>
            <a:ext cx="256032" cy="256032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501091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7222E"/>
                </a:solidFill>
                <a:latin typeface="Calibri"/>
              </a:rPr>
              <a:t>Compter infractions / arrêts respectés</a:t>
            </a:r>
          </a:p>
        </p:txBody>
      </p:sp>
      <p:sp>
        <p:nvSpPr>
          <p:cNvPr id="19" name="Octagon 18"/>
          <p:cNvSpPr/>
          <p:nvPr/>
        </p:nvSpPr>
        <p:spPr>
          <a:xfrm>
            <a:off x="640080" y="5623559"/>
            <a:ext cx="256032" cy="256032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55778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7222E"/>
                </a:solidFill>
                <a:latin typeface="Calibri"/>
              </a:rPr>
              <a:t>Interface web moderne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2860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E5FC9"/>
                </a:solidFill>
                <a:latin typeface="Calibri"/>
              </a:rPr>
              <a:t>ÉTUDE DE L'EXISTANT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43200"/>
            <a:ext cx="5257800" cy="9144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86207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Surveillance humaine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1868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Fiable mais coûteuse et sans données.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94760"/>
            <a:ext cx="5257800" cy="9144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39136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Radars / feux rouges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7024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Capteurs dédiés ; ne mesurent pas l'arrêt au Stop.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46320"/>
            <a:ext cx="5257800" cy="9144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9651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Vision par ordinateur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32180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Souvent du comptage, sans jugement d'un comportement.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943600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9D55"/>
                </a:solidFill>
                <a:latin typeface="Calibri"/>
              </a:rPr>
              <a:t>→  Aucune solution simple ne mesure l'arrêt au Stop : notre créneau.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04 — OUTILS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05156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600" b="1" i="0">
                <a:solidFill>
                  <a:srgbClr val="EAEEF3"/>
                </a:solidFill>
                <a:latin typeface="Cambria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La pile technologique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456432" cy="1645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ctagon 8"/>
          <p:cNvSpPr/>
          <p:nvPr/>
        </p:nvSpPr>
        <p:spPr>
          <a:xfrm>
            <a:off x="896112" y="2670048"/>
            <a:ext cx="566928" cy="566928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68833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222E"/>
                </a:solidFill>
                <a:latin typeface="Cambria"/>
              </a:rPr>
              <a:t>YOLOv8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6499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675"/>
                </a:solidFill>
                <a:latin typeface="Calibri"/>
              </a:rPr>
              <a:t>Détection d'objets en temps réel.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377440"/>
            <a:ext cx="3456432" cy="1645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ctagon 12"/>
          <p:cNvSpPr/>
          <p:nvPr/>
        </p:nvSpPr>
        <p:spPr>
          <a:xfrm>
            <a:off x="4572000" y="2670048"/>
            <a:ext cx="566928" cy="566928"/>
          </a:xfrm>
          <a:prstGeom prst="octagon">
            <a:avLst/>
          </a:prstGeom>
          <a:solidFill>
            <a:srgbClr val="1E5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68833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222E"/>
                </a:solidFill>
                <a:latin typeface="Cambria"/>
              </a:rPr>
              <a:t>ByteTrack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36499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675"/>
                </a:solidFill>
                <a:latin typeface="Calibri"/>
              </a:rPr>
              <a:t>Suivi : un ID stable par véhicule.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2377440"/>
            <a:ext cx="3456432" cy="1645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ctagon 16"/>
          <p:cNvSpPr/>
          <p:nvPr/>
        </p:nvSpPr>
        <p:spPr>
          <a:xfrm>
            <a:off x="8247887" y="2670048"/>
            <a:ext cx="566928" cy="566928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68833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222E"/>
                </a:solidFill>
                <a:latin typeface="Cambria"/>
              </a:rPr>
              <a:t>OpenCV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336499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675"/>
                </a:solidFill>
                <a:latin typeface="Calibri"/>
              </a:rPr>
              <a:t>Lecture vidéo &amp; annotation des images.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51960"/>
            <a:ext cx="3456432" cy="1645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ctagon 20"/>
          <p:cNvSpPr/>
          <p:nvPr/>
        </p:nvSpPr>
        <p:spPr>
          <a:xfrm>
            <a:off x="896112" y="4544568"/>
            <a:ext cx="566928" cy="566928"/>
          </a:xfrm>
          <a:prstGeom prst="octagon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56285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222E"/>
                </a:solidFill>
                <a:latin typeface="Cambria"/>
              </a:rPr>
              <a:t>NumPy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951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675"/>
                </a:solidFill>
                <a:latin typeface="Calibri"/>
              </a:rPr>
              <a:t>Calculs rapides : déplacements.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251960"/>
            <a:ext cx="3456432" cy="1645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ctagon 24"/>
          <p:cNvSpPr/>
          <p:nvPr/>
        </p:nvSpPr>
        <p:spPr>
          <a:xfrm>
            <a:off x="4572000" y="4544568"/>
            <a:ext cx="566928" cy="566928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456285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222E"/>
                </a:solidFill>
                <a:latin typeface="Cambria"/>
              </a:rPr>
              <a:t>Flask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523951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675"/>
                </a:solidFill>
                <a:latin typeface="Calibri"/>
              </a:rPr>
              <a:t>Serveur web : pont IA ↔ navigateur.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1855" y="4251960"/>
            <a:ext cx="3456432" cy="1645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ctagon 28"/>
          <p:cNvSpPr/>
          <p:nvPr/>
        </p:nvSpPr>
        <p:spPr>
          <a:xfrm>
            <a:off x="8247887" y="4544568"/>
            <a:ext cx="566928" cy="566928"/>
          </a:xfrm>
          <a:prstGeom prst="octagon">
            <a:avLst/>
          </a:prstGeom>
          <a:solidFill>
            <a:srgbClr val="1E5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4562856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7222E"/>
                </a:solidFill>
                <a:latin typeface="Cambria"/>
              </a:rPr>
              <a:t>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5" y="523951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675"/>
                </a:solidFill>
                <a:latin typeface="Calibri"/>
              </a:rPr>
              <a:t>Déploiement reproductible.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05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73152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Architecture en trois couches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920240"/>
            <a:ext cx="7040879" cy="485788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965960"/>
            <a:ext cx="6949440" cy="47664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286000"/>
            <a:ext cx="31089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675"/>
                </a:solidFill>
                <a:latin typeface="Calibri"/>
              </a:rPr>
              <a:t>Trois couches, responsabilités séparées :</a:t>
            </a:r>
          </a:p>
          <a:p>
            <a:pPr algn="l">
              <a:lnSpc>
                <a:spcPct val="125000"/>
              </a:lnSpc>
            </a:pPr>
            <a:endParaRPr sz="1450" b="0" i="0">
              <a:solidFill>
                <a:srgbClr val="5B6675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675"/>
                </a:solidFill>
                <a:latin typeface="Calibri"/>
              </a:rPr>
              <a:t>— Présentation : le navigateur</a:t>
            </a:r>
          </a:p>
          <a:p>
            <a:pPr algn="l">
              <a:lnSpc>
                <a:spcPct val="125000"/>
              </a:lnSpc>
            </a:pPr>
            <a:endParaRPr sz="1450" b="0" i="0">
              <a:solidFill>
                <a:srgbClr val="5B6675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675"/>
                </a:solidFill>
                <a:latin typeface="Calibri"/>
              </a:rPr>
              <a:t>— Application : le serveur Flask</a:t>
            </a:r>
          </a:p>
          <a:p>
            <a:pPr algn="l">
              <a:lnSpc>
                <a:spcPct val="125000"/>
              </a:lnSpc>
            </a:pPr>
            <a:endParaRPr sz="1450" b="0" i="0">
              <a:solidFill>
                <a:srgbClr val="5B6675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5B6675"/>
                </a:solidFill>
                <a:latin typeface="Calibri"/>
              </a:rPr>
              <a:t>— Traitement : YOLOv8 + ByteTrack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05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Comment une vidéo est analysée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31720"/>
            <a:ext cx="10424160" cy="321969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7440"/>
            <a:ext cx="10332720" cy="3128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B6675"/>
                </a:solidFill>
                <a:latin typeface="Calibri"/>
              </a:rPr>
              <a:t>L'analyse tourne dans un thread séparé ; l'interface s'actualise toutes les 250 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05 — CONCEPTION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Modélisation 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675"/>
                </a:solidFill>
                <a:latin typeface="Calibri"/>
              </a:rPr>
              <a:t>Cas d'utilisation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59" y="2240280"/>
            <a:ext cx="6949440" cy="1731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6858000" cy="16401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6679" y="201168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675"/>
                </a:solidFill>
                <a:latin typeface="Calibri"/>
              </a:rPr>
              <a:t>Diagramme de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59" y="2240280"/>
            <a:ext cx="2038229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g_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2286000"/>
            <a:ext cx="1946789" cy="2697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43434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675"/>
                </a:solidFill>
                <a:latin typeface="Calibri"/>
              </a:rPr>
              <a:t>Diagramme de séquence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59" y="4526280"/>
            <a:ext cx="6949440" cy="424259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g_sequ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72000"/>
            <a:ext cx="6858000" cy="41511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26679" y="5212080"/>
            <a:ext cx="3611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B6675"/>
                </a:solidFill>
                <a:latin typeface="Calibri"/>
              </a:rPr>
              <a:t>Trois vues : les interactions, la structure des classes, et la chronologie de l'analyse.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06 — LE CŒUR DU SYSTÈME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Mesure de l'arrêt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" y="2057400"/>
            <a:ext cx="6858000" cy="405580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z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6766560" cy="39643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2103120"/>
            <a:ext cx="3840480" cy="40233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2331720"/>
            <a:ext cx="32918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7222E"/>
                </a:solidFill>
                <a:latin typeface="Calibri"/>
              </a:rPr>
              <a:t>Le système mesure le déplacement du centre de chaque véhicule, rapporté à sa taille (invariant d'échelle).</a:t>
            </a:r>
          </a:p>
          <a:p>
            <a:pPr algn="l">
              <a:lnSpc>
                <a:spcPct val="125000"/>
              </a:lnSpc>
            </a:pPr>
            <a:endParaRPr sz="1500" b="0" i="0">
              <a:solidFill>
                <a:srgbClr val="17222E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7222E"/>
                </a:solidFill>
                <a:latin typeface="Calibri"/>
              </a:rPr>
              <a:t>Immobile ≥ 0,7 s dans la zone du Stop → arrêt respecté.</a:t>
            </a:r>
          </a:p>
          <a:p>
            <a:pPr algn="l">
              <a:lnSpc>
                <a:spcPct val="125000"/>
              </a:lnSpc>
            </a:pPr>
            <a:endParaRPr sz="1500" b="0" i="0">
              <a:solidFill>
                <a:srgbClr val="17222E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7222E"/>
                </a:solidFill>
                <a:latin typeface="Calibri"/>
              </a:rPr>
              <a:t>Sinon → infraction.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07 — DÉMARCHE D'INGÉNIEUR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Fiabilisation du moteur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257800" cy="1143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ctagon 7"/>
          <p:cNvSpPr/>
          <p:nvPr/>
        </p:nvSpPr>
        <p:spPr>
          <a:xfrm>
            <a:off x="868680" y="2670048"/>
            <a:ext cx="457200" cy="457200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7802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Mesure d'arrêt invariante à l'échelle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3522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Déplacement rapporté à la taille du véhicule.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31720"/>
            <a:ext cx="5257800" cy="1143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ctagon 11"/>
          <p:cNvSpPr/>
          <p:nvPr/>
        </p:nvSpPr>
        <p:spPr>
          <a:xfrm>
            <a:off x="6355080" y="2670048"/>
            <a:ext cx="457200" cy="457200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47802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Zone de contrôle autour du panneau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293522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Région cohérente, proportionnelle au panneau.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257800" cy="1143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ctagon 15"/>
          <p:cNvSpPr/>
          <p:nvPr/>
        </p:nvSpPr>
        <p:spPr>
          <a:xfrm>
            <a:off x="868680" y="3995928"/>
            <a:ext cx="457200" cy="457200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0390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Arrêt compté dans la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6110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L'immobilité ne compte qu'à proximité du Stop.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657600"/>
            <a:ext cx="5257800" cy="1143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ctagon 19"/>
          <p:cNvSpPr/>
          <p:nvPr/>
        </p:nvSpPr>
        <p:spPr>
          <a:xfrm>
            <a:off x="6355080" y="3995928"/>
            <a:ext cx="457200" cy="457200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80390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Identifiants stables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4261104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Pas de double comptage des véhicules.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83479"/>
            <a:ext cx="5257800" cy="1143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ctagon 23"/>
          <p:cNvSpPr/>
          <p:nvPr/>
        </p:nvSpPr>
        <p:spPr>
          <a:xfrm>
            <a:off x="868680" y="5321807"/>
            <a:ext cx="457200" cy="457200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129783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Lissage de la trajectoire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586983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Absorbe le bruit de détection.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983479"/>
            <a:ext cx="5257800" cy="1143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ctagon 27"/>
          <p:cNvSpPr/>
          <p:nvPr/>
        </p:nvSpPr>
        <p:spPr>
          <a:xfrm>
            <a:off x="6355080" y="5321807"/>
            <a:ext cx="457200" cy="457200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5129783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222E"/>
                </a:solidFill>
                <a:latin typeface="Calibri"/>
              </a:rPr>
              <a:t>Réglages proportionnels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586983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Calibrage simple et robuste.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08 — RÉALISATION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L'interface utilisateur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" y="2057400"/>
            <a:ext cx="740664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i_accue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7315200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2103120"/>
            <a:ext cx="3291840" cy="40690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58200" y="2331720"/>
            <a:ext cx="28803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17222E"/>
                </a:solidFill>
                <a:latin typeface="Calibri"/>
              </a:rPr>
              <a:t>Une interface claire et moderne :</a:t>
            </a:r>
          </a:p>
          <a:p>
            <a:pPr algn="l">
              <a:lnSpc>
                <a:spcPct val="122000"/>
              </a:lnSpc>
            </a:pPr>
            <a:endParaRPr sz="1400" b="0" i="0">
              <a:solidFill>
                <a:srgbClr val="17222E"/>
              </a:solidFill>
              <a:latin typeface="Calibri"/>
            </a:endParaRPr>
          </a:p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17222E"/>
                </a:solidFill>
                <a:latin typeface="Calibri"/>
              </a:rPr>
              <a:t>— Flux vidéo annoté en direct</a:t>
            </a:r>
          </a:p>
          <a:p>
            <a:pPr algn="l">
              <a:lnSpc>
                <a:spcPct val="122000"/>
              </a:lnSpc>
            </a:pPr>
            <a:endParaRPr sz="1400" b="0" i="0">
              <a:solidFill>
                <a:srgbClr val="17222E"/>
              </a:solidFill>
              <a:latin typeface="Calibri"/>
            </a:endParaRPr>
          </a:p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17222E"/>
                </a:solidFill>
                <a:latin typeface="Calibri"/>
              </a:rPr>
              <a:t>— État du panneau Stop</a:t>
            </a:r>
          </a:p>
          <a:p>
            <a:pPr algn="l">
              <a:lnSpc>
                <a:spcPct val="122000"/>
              </a:lnSpc>
            </a:pPr>
            <a:endParaRPr sz="1400" b="0" i="0">
              <a:solidFill>
                <a:srgbClr val="17222E"/>
              </a:solidFill>
              <a:latin typeface="Calibri"/>
            </a:endParaRPr>
          </a:p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17222E"/>
                </a:solidFill>
                <a:latin typeface="Calibri"/>
              </a:rPr>
              <a:t>— Compteurs : infractions / respectées / véhicules</a:t>
            </a:r>
          </a:p>
          <a:p>
            <a:pPr algn="l">
              <a:lnSpc>
                <a:spcPct val="122000"/>
              </a:lnSpc>
            </a:pPr>
            <a:endParaRPr sz="1400" b="0" i="0">
              <a:solidFill>
                <a:srgbClr val="17222E"/>
              </a:solidFill>
              <a:latin typeface="Calibri"/>
            </a:endParaRPr>
          </a:p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17222E"/>
                </a:solidFill>
                <a:latin typeface="Calibri"/>
              </a:rPr>
              <a:t>— Historique horodaté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08 — 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Détection, suivi et verdict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" y="2057400"/>
            <a:ext cx="225171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ap_detec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03120"/>
            <a:ext cx="216027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26080" y="2148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675"/>
                </a:solidFill>
                <a:latin typeface="Calibri"/>
              </a:rPr>
              <a:t>Détection du Stop et suivi des véhicules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224028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 w="1651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ctagon 10"/>
          <p:cNvSpPr/>
          <p:nvPr/>
        </p:nvSpPr>
        <p:spPr>
          <a:xfrm>
            <a:off x="5303520" y="2468880"/>
            <a:ext cx="457200" cy="457200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48716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9D55"/>
                </a:solidFill>
                <a:latin typeface="Calibri"/>
              </a:rPr>
              <a:t>ARRÊT RESPECTÉ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06324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22E"/>
                </a:solidFill>
                <a:latin typeface="Calibri"/>
              </a:rPr>
              <a:t>Le véhicule s'immobilise près du Stop : cadre vert.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24028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 w="16510">
            <a:solidFill>
              <a:srgbClr val="DC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ctagon 14"/>
          <p:cNvSpPr/>
          <p:nvPr/>
        </p:nvSpPr>
        <p:spPr>
          <a:xfrm>
            <a:off x="8549640" y="2468880"/>
            <a:ext cx="457200" cy="457200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8716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libri"/>
              </a:rPr>
              <a:t>INFRACTION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06324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7222E"/>
                </a:solidFill>
                <a:latin typeface="Calibri"/>
              </a:rPr>
              <a:t>Le véhicule ne s'arrête pas : cadre rouge + alerte.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4343400"/>
            <a:ext cx="6446520" cy="16002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452628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7222E"/>
                </a:solidFill>
                <a:latin typeface="Calibri"/>
              </a:rPr>
              <a:t>Lors de la soutenance, la démonstration en direct fait défiler la vidéo de test et montre les deux verdicts en temps réel, avec les compteurs et l'historique qui se mettent à jour.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09 — BILAN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Résultats, forces et limites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" y="2148840"/>
            <a:ext cx="6035040" cy="20919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resul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5943600" cy="200054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2194560"/>
            <a:ext cx="2286000" cy="3749039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 w="1524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0" y="23774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9D55"/>
                </a:solidFill>
                <a:latin typeface="Calibri"/>
              </a:rPr>
              <a:t>POINTS FORTS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834640"/>
            <a:ext cx="192024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Détection réelle de l'arrêt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Suivi fiable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Analyse automatique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Interface accessible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Données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2194560"/>
            <a:ext cx="2240280" cy="3749039"/>
          </a:xfrm>
          <a:prstGeom prst="roundRect">
            <a:avLst>
              <a:gd name="adj" fmla="val 5000"/>
            </a:avLst>
          </a:prstGeom>
          <a:solidFill>
            <a:srgbClr val="FBE9E7"/>
          </a:solidFill>
          <a:ln w="15240">
            <a:solidFill>
              <a:srgbClr val="DC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0" y="23774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C2828"/>
                </a:solidFill>
                <a:latin typeface="Calibri"/>
              </a:rPr>
              <a:t>LIMITES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834640"/>
            <a:ext cx="18288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Caméra fixe requise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Moins fiable de nuit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Occlusion possible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Modèle générique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7222E"/>
                </a:solidFill>
                <a:latin typeface="Calibri"/>
              </a:rPr>
              <a:t>— Lent sans GPU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B6675"/>
                </a:solidFill>
                <a:latin typeface="Calibri"/>
              </a:rPr>
              <a:t>T R A F F I C G U A R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274320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DC2828"/>
                </a:solidFill>
                <a:latin typeface="Cambri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C2828"/>
                </a:solidFill>
                <a:latin typeface="Calibri"/>
              </a:rPr>
              <a:t>10 —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34440"/>
            <a:ext cx="108813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222E"/>
                </a:solidFill>
                <a:latin typeface="Cambria"/>
              </a:rPr>
              <a:t>Juger un comportement, pas un objet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B6675"/>
                </a:solidFill>
                <a:latin typeface="Calibri"/>
              </a:rPr>
              <a:t>TrafficGuard détecte les panneaux Stop, suit les véhicules et mesure leur arrêt pour rendre un verdict fondé sur l'observation réelle du mouvement.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3456432" cy="13258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ctagon 8"/>
          <p:cNvSpPr/>
          <p:nvPr/>
        </p:nvSpPr>
        <p:spPr>
          <a:xfrm>
            <a:off x="896112" y="3456432"/>
            <a:ext cx="365760" cy="365760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19" y="3401568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7222E"/>
                </a:solidFill>
                <a:latin typeface="Calibri"/>
              </a:rPr>
              <a:t>Vision par ordinateur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675"/>
                </a:solidFill>
                <a:latin typeface="Calibri"/>
              </a:rPr>
              <a:t>YOLOv8, ByteTrack, OpenCV.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3246120"/>
            <a:ext cx="3456432" cy="13258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ctagon 12"/>
          <p:cNvSpPr/>
          <p:nvPr/>
        </p:nvSpPr>
        <p:spPr>
          <a:xfrm>
            <a:off x="4572000" y="3456432"/>
            <a:ext cx="365760" cy="365760"/>
          </a:xfrm>
          <a:prstGeom prst="octagon">
            <a:avLst/>
          </a:prstGeom>
          <a:solidFill>
            <a:srgbClr val="1E5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93207" y="3401568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7222E"/>
                </a:solidFill>
                <a:latin typeface="Calibri"/>
              </a:rPr>
              <a:t>Développement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40233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675"/>
                </a:solidFill>
                <a:latin typeface="Calibri"/>
              </a:rPr>
              <a:t>Application Flask complète.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3246120"/>
            <a:ext cx="3456432" cy="13258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ctagon 16"/>
          <p:cNvSpPr/>
          <p:nvPr/>
        </p:nvSpPr>
        <p:spPr>
          <a:xfrm>
            <a:off x="8247887" y="3456432"/>
            <a:ext cx="365760" cy="365760"/>
          </a:xfrm>
          <a:prstGeom prst="octagon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69095" y="3401568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7222E"/>
                </a:solidFill>
                <a:latin typeface="Calibri"/>
              </a:rPr>
              <a:t>Démarche d'ingénieur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40233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675"/>
                </a:solidFill>
                <a:latin typeface="Calibri"/>
              </a:rPr>
              <a:t>Fiabilisation &amp; limites assumées.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08A00"/>
                </a:solidFill>
                <a:latin typeface="Calibri"/>
              </a:rPr>
              <a:t>PERSPECTIVES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7222E"/>
                </a:solidFill>
                <a:latin typeface="Calibri"/>
              </a:rPr>
              <a:t>Modèle ré-entraîné sur données routières · évaluation quantitative à grande échelle · reconnaissance des plaques · rapports PDF automatiques · déploiement embarqué.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ctagon 2"/>
          <p:cNvSpPr/>
          <p:nvPr/>
        </p:nvSpPr>
        <p:spPr>
          <a:xfrm>
            <a:off x="5641848" y="1691640"/>
            <a:ext cx="914400" cy="914400"/>
          </a:xfrm>
          <a:prstGeom prst="octagon">
            <a:avLst/>
          </a:prstGeom>
          <a:solidFill>
            <a:srgbClr val="DC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>
                <a:solidFill>
                  <a:srgbClr val="17222E"/>
                </a:solidFill>
                <a:latin typeface="Cambria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0" i="1">
                <a:solidFill>
                  <a:srgbClr val="DC2828"/>
                </a:solidFill>
                <a:latin typeface="Calibri"/>
              </a:rPr>
              <a:t>TrafficGuard — Détection intelligente des infractions au 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B6675"/>
                </a:solidFill>
                <a:latin typeface="Calibri"/>
              </a:rPr>
              <a:t>Projet de Fin d'Études · Licence Génie Informatique ·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5497</TotalTime>
  <Words>1263</Words>
  <Application>Microsoft Office PowerPoint</Application>
  <PresentationFormat>Grand écran</PresentationFormat>
  <Paragraphs>246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Andalus</vt:lpstr>
      <vt:lpstr>Arial</vt:lpstr>
      <vt:lpstr>Bodoni MT</vt:lpstr>
      <vt:lpstr>Calibri</vt:lpstr>
      <vt:lpstr>Cambria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O_J_B</dc:creator>
  <cp:keywords/>
  <dc:description>generated using python-pptx</dc:description>
  <cp:lastModifiedBy>nuba judith</cp:lastModifiedBy>
  <cp:revision>4</cp:revision>
  <dcterms:created xsi:type="dcterms:W3CDTF">2013-01-27T09:14:16Z</dcterms:created>
  <dcterms:modified xsi:type="dcterms:W3CDTF">2026-06-17T12:53:37Z</dcterms:modified>
  <cp:category/>
</cp:coreProperties>
</file>